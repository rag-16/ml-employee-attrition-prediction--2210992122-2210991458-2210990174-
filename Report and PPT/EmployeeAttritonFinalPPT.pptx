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1" r:id="rId6"/>
    <p:sldId id="257" r:id="rId7"/>
    <p:sldId id="269" r:id="rId8"/>
    <p:sldId id="279" r:id="rId9"/>
    <p:sldId id="272" r:id="rId10"/>
    <p:sldId id="277" r:id="rId11"/>
    <p:sldId id="273" r:id="rId12"/>
    <p:sldId id="270" r:id="rId13"/>
    <p:sldId id="274" r:id="rId14"/>
    <p:sldId id="278" r:id="rId15"/>
    <p:sldId id="276" r:id="rId16"/>
    <p:sldId id="275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r>
              <a:rPr lang="en-US" sz="1200" b="0" i="0" u="none" strike="noStrike" dirty="0">
                <a:solidFill>
                  <a:srgbClr val="333333"/>
                </a:solidFill>
                <a:latin typeface="Arial"/>
              </a:rPr>
              <a:t>Top Features Driving Attrition (Random Forest)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29652891499004935"/>
          <c:y val="0.12681385415058416"/>
          <c:w val="0.64358705257436444"/>
          <c:h val="0.8007894601410118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CC00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Monthly Income</c:v>
                </c:pt>
                <c:pt idx="1">
                  <c:v>Overtime</c:v>
                </c:pt>
                <c:pt idx="2">
                  <c:v>Age</c:v>
                </c:pt>
                <c:pt idx="3">
                  <c:v>Total Working Years</c:v>
                </c:pt>
                <c:pt idx="4">
                  <c:v>Years at Company</c:v>
                </c:pt>
                <c:pt idx="5">
                  <c:v>Job Satisfaction</c:v>
                </c:pt>
                <c:pt idx="6">
                  <c:v>Work-Life Balance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0.18</c:v>
                </c:pt>
                <c:pt idx="1">
                  <c:v>0.16</c:v>
                </c:pt>
                <c:pt idx="2">
                  <c:v>0.12</c:v>
                </c:pt>
                <c:pt idx="3">
                  <c:v>0.11</c:v>
                </c:pt>
                <c:pt idx="4">
                  <c:v>0.1</c:v>
                </c:pt>
                <c:pt idx="5">
                  <c:v>0.08</c:v>
                </c:pt>
                <c:pt idx="6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43-4DE1-909F-5BEAB0B785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google/?utm_source=chatgpt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Analysis of Machine Learning</a:t>
            </a:r>
            <a:endParaRPr lang="en-US" b="1" dirty="0"/>
          </a:p>
          <a:p>
            <a:pPr algn="ctr"/>
            <a:r>
              <a:rPr lang="en-US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Models for Employee Attrition Prediction</a:t>
            </a:r>
            <a:endParaRPr lang="en-US" b="1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Chetan Kumar (2210991458)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Raghav Sarochya(2210992122)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Aryan(2210990174)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Gurpreet Singh</a:t>
            </a:r>
            <a:endParaRPr lang="en-US" sz="2000" b="1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B4697-9324-A5D6-080A-307619CA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744A8A-15EA-0663-2BD9-532BD9C55F8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84842" y="1074654"/>
            <a:ext cx="8573318" cy="488308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Introduction</a:t>
            </a:r>
            <a:endParaRPr lang="en-US" sz="2400" dirty="0"/>
          </a:p>
          <a:p>
            <a:pPr marL="457200" indent="-457200">
              <a:buAutoNum type="arabicPeriod" startAt="2"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</a:p>
          <a:p>
            <a:pPr marL="457200" indent="-457200">
              <a:buAutoNum type="arabicPeriod" startAt="2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Fundamental Concepts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Experimental Methodology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Results &amp; Discussion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 Applications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 Limitations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 Conclusion &amp; Future Scope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 References</a:t>
            </a: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271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229996" y="108146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&amp; Problem Statement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digital transformation has increased the volume of employee-related data available to organizations.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employee attrition impacts productivity, recruitment cost, team stability, and organizational growth.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departments often rely on reactive approaches such as resignation analysis and feedback surveys.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fail to provide early prediction of employee turnover risks.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offers data-driven predictive insights that help organizations take preventive actions. 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compare three Machine Learning models for employee attrition prediction: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IBM HR Analytics Employee Attrition dataset for experimentation and evaluation.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preprocessing, feature selection, and exploratory data analysis (EDA).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performance using standardized metrics such as: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07516-6EB4-3A29-CC54-285820513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5FB12B-BCB7-3C72-DD83-3293108859A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83975" y="1287666"/>
            <a:ext cx="8380068" cy="5778991"/>
          </a:xfrm>
        </p:spPr>
        <p:txBody>
          <a:bodyPr/>
          <a:lstStyle/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Approaches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attrition has traditionally been analyzed using exit interviews, employee feedback forms, and satisfaction surveys.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methods provide qualitative insights into employee behavior and workplace challenges.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such approaches are retrospective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nature, meaning organizations gain insights only after employees leave the company.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in HR Analytics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has emerged as a powerful tool in Human Resource Analytics for predicting employee attrition.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models can analyze large volumes of workforce data and discover complex relationships between employee attributes and turnover behavior.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u="sng" dirty="0"/>
              <a:t>Research Gap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often focus on a single machine learning model rather than providing a comprehensive comparison among multiple algorithms.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research works use different datasets, preprocessing methods, and evaluation metrics, making fair comparison difficult. 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189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995C2-585D-7C38-3054-32D31E0C1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8AD2B5A-3190-656F-C23B-65A1E73C934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5988" y="1065229"/>
            <a:ext cx="8620812" cy="514703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3.x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implementing machine learning models, data preprocessing, and visualization tasks.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Framework: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build and evaluate models such as Logistic Regression, Decision Tree, and Random Forest.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&amp; Preprocessing: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— Used for loading, cleaning, and preprocessing the dataset.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— Used for numerical computations and array operations.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Tools: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— Used for generating graphs and performance charts.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— Used for advanced visualizations such as confusion matrix heatmaps.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Jupiter Notebook — Used for coding, testing, and model execution.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Google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Colab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Cloud-based notebook platform used to run the project. 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HR Analytics Employee Attrition Dataset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analyzing employee behavior and predicting attrition using machine learning algorithms. 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21136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4B463-AA8A-B40E-9624-2C0D0AEE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BC89C9-2FDC-69BB-C8D8-39FBC87B77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82344"/>
            <a:ext cx="2670279" cy="34933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6507B1-462A-E933-E808-0C0D95871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515" y="1682344"/>
            <a:ext cx="2670279" cy="3493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B8EC0C-9599-4B0C-2787-5504E51B7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521" y="1682343"/>
            <a:ext cx="2670279" cy="34933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648BBC-B01B-05DD-5BB8-57CE390F4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27" y="2646711"/>
            <a:ext cx="2560542" cy="26580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30CBA5-AF06-6D13-2E22-118BB2A0C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818" y="2006576"/>
            <a:ext cx="2651990" cy="6401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45477BB-B324-85C5-37F2-C91FDEF4B9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6598" y="2581778"/>
            <a:ext cx="2560542" cy="2658086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EBEEF2B1-942D-A257-F16D-DD5A6168B853}"/>
              </a:ext>
            </a:extLst>
          </p:cNvPr>
          <p:cNvSpPr/>
          <p:nvPr/>
        </p:nvSpPr>
        <p:spPr>
          <a:xfrm>
            <a:off x="3113591" y="2006576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  <a:p>
            <a:pPr algn="ctr"/>
            <a:r>
              <a:rPr lang="en-US" sz="14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6E3EA76-C6BE-0B44-205F-B225CFA4C6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2985" y="2581778"/>
            <a:ext cx="2560542" cy="265808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C43FB06-BDBA-2286-56B9-1252F60371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2078" y="2060778"/>
            <a:ext cx="2651990" cy="59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895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C09C-D468-6DAA-B937-12A1C909F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Methodology</a:t>
            </a:r>
            <a:br>
              <a:rPr lang="en-US" sz="2800" dirty="0"/>
            </a:br>
            <a:endParaRPr lang="en-IN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47CFBE-9CFE-A86E-9F33-BB1DADE81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34" y="2518075"/>
            <a:ext cx="4115157" cy="28210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846A18-A867-D201-3F6D-B9157AC4A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133" y="2556902"/>
            <a:ext cx="4115157" cy="2743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C58506-6A9E-B1A1-B499-62B0AE6D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97" y="1946722"/>
            <a:ext cx="4133446" cy="3779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DEE353-C63C-E434-7A33-4533FFB75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4820" y="1915757"/>
            <a:ext cx="4133446" cy="3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51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BEBB-9D7E-DAEC-0C3F-537B2FF9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</a:br>
            <a:r>
              <a:rPr lang="en-US" sz="2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Model Performance Comparison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9B92C-9061-BE14-13BE-56CCCF000EA5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5414" y="1168924"/>
            <a:ext cx="5303980" cy="441287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32774-2C12-B9A8-D890-374FCF765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0" y="1276200"/>
            <a:ext cx="5303980" cy="3834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800EE5C-3237-4D12-06FB-07CE1E1DC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661" y="1645532"/>
            <a:ext cx="3002583" cy="45478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275A07-A6DD-1FEA-020C-2C1C47F42755}"/>
              </a:ext>
            </a:extLst>
          </p:cNvPr>
          <p:cNvSpPr txBox="1"/>
          <p:nvPr/>
        </p:nvSpPr>
        <p:spPr>
          <a:xfrm>
            <a:off x="5592686" y="1276200"/>
            <a:ext cx="4689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Findings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33910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13A84-0DF9-A3A1-7286-8F9E99D1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Random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Higher Accuracy</a:t>
            </a:r>
            <a:b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59305-DDEA-E2E8-D93B-E271683A7CE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31975" y="914040"/>
            <a:ext cx="8554466" cy="6278612"/>
          </a:xfrm>
        </p:spPr>
        <p:txBody>
          <a:bodyPr/>
          <a:lstStyle/>
          <a:p>
            <a:pPr marL="171450" indent="-17145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is an ensemble learning algorithm that combines predictions from multiple decision trees to improve overall performance and stability.</a:t>
            </a:r>
          </a:p>
          <a:p>
            <a:pPr marL="171450" indent="-171450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relying on a single tree, the model aggregates outputs from many trees using majority voting, leading to more reliable predictions.</a:t>
            </a:r>
          </a:p>
          <a:p>
            <a:pPr marL="171450" indent="-171450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reduces overfitting by introducing randomness in both data sampling and feature selection during training.</a:t>
            </a:r>
          </a:p>
          <a:p>
            <a:pPr marL="171450" indent="-171450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can effectively capture complex and non-linear relationships between HR variables such as overtime, monthly income, job satisfaction, and work-life balance.</a:t>
            </a:r>
          </a:p>
          <a:p>
            <a:pPr marL="171450" indent="-171450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well with mixed data types, including both numerical and categorical employee attributes.</a:t>
            </a:r>
          </a:p>
          <a:p>
            <a:pPr marL="171450" indent="-171450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less sensitive to noise and outliers compared to individual decision trees.</a:t>
            </a:r>
          </a:p>
          <a:p>
            <a:pPr marL="171450" indent="-171450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bagging enables the algorithm to identify the most important predictors of employee attrition more effectively.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58984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E543-DC4E-05BE-76F4-98EAE656A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</a:br>
            <a:r>
              <a:rPr lang="en-US" sz="2800" b="1" dirty="0"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Feature Importance Analysis</a:t>
            </a:r>
            <a:br>
              <a:rPr lang="en-US" sz="2800" dirty="0"/>
            </a:b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E8F48-13B7-42B9-6A81-1C72C3B5B8A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0" y="914040"/>
            <a:ext cx="8686440" cy="5769564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Results: Feature Importance Analysis</a:t>
            </a:r>
            <a:endParaRPr lang="en-US" dirty="0"/>
          </a:p>
          <a:p>
            <a:endParaRPr lang="en-IN" dirty="0"/>
          </a:p>
        </p:txBody>
      </p:sp>
      <p:graphicFrame>
        <p:nvGraphicFramePr>
          <p:cNvPr id="4" name="Chart 0">
            <a:extLst>
              <a:ext uri="{FF2B5EF4-FFF2-40B4-BE49-F238E27FC236}">
                <a16:creationId xmlns:a16="http://schemas.microsoft.com/office/drawing/2014/main" id="{719248D4-A877-3E97-2683-8B47EEAAE0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1460884"/>
              </p:ext>
            </p:extLst>
          </p:nvPr>
        </p:nvGraphicFramePr>
        <p:xfrm>
          <a:off x="182519" y="1267434"/>
          <a:ext cx="4889101" cy="49731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2326D84-5E9B-2D1A-3F4C-1FB8D60E6EC8}"/>
              </a:ext>
            </a:extLst>
          </p:cNvPr>
          <p:cNvSpPr txBox="1"/>
          <p:nvPr/>
        </p:nvSpPr>
        <p:spPr>
          <a:xfrm>
            <a:off x="5182387" y="1620677"/>
            <a:ext cx="4689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CC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Insights</a:t>
            </a:r>
            <a:endParaRPr lang="en-US" sz="1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C458C4-193C-F2B6-207C-D1BDC2399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621" y="2158737"/>
            <a:ext cx="3469064" cy="440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507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025F-94B0-8621-8FDD-75E5AB840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0DBDE6-CD65-F861-AECF-609E0A189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71" y="1807342"/>
            <a:ext cx="2664183" cy="695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62F2A0-F77E-09C4-87BC-D5356BE47D0B}"/>
              </a:ext>
            </a:extLst>
          </p:cNvPr>
          <p:cNvSpPr txBox="1"/>
          <p:nvPr/>
        </p:nvSpPr>
        <p:spPr>
          <a:xfrm>
            <a:off x="772998" y="1804987"/>
            <a:ext cx="12914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Retention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F3F4A2-9145-42E6-CDE1-FB1221BCC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71" y="2502347"/>
            <a:ext cx="2670279" cy="28897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686C30-320C-D0A3-6E2C-936F77070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056" y="2880258"/>
            <a:ext cx="2469094" cy="33348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9DE9AE-6FF5-89A6-3032-1B1829DED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9908" y="1807342"/>
            <a:ext cx="2664183" cy="69500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4B548F-A2D3-3F6B-7610-60BE8458BB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812" y="2496282"/>
            <a:ext cx="2670279" cy="289585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D944683-C6AD-5AA9-7438-FA962078E8D5}"/>
              </a:ext>
            </a:extLst>
          </p:cNvPr>
          <p:cNvSpPr txBox="1"/>
          <p:nvPr/>
        </p:nvSpPr>
        <p:spPr>
          <a:xfrm>
            <a:off x="3187095" y="1863023"/>
            <a:ext cx="47511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HR Decision</a:t>
            </a:r>
          </a:p>
          <a:p>
            <a:r>
              <a:rPr lang="en-IN" b="1" dirty="0"/>
              <a:t>Support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DAAB83-D864-4640-B2AC-E40C18B4CE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3812" y="2973880"/>
            <a:ext cx="2475191" cy="274953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0067CC7-C83F-90D8-7B2D-088E6F0FB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810" y="1814747"/>
            <a:ext cx="2664183" cy="69500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7CE0EEE-CCAB-4A04-703E-D421096AEE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9040" y="1858597"/>
            <a:ext cx="4804064" cy="77425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FECFBAB-EA2A-7B82-489E-65FCC4ABD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040" y="2509354"/>
            <a:ext cx="2670279" cy="283853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7591396-25FB-C55A-C4EE-4B594315DE98}"/>
              </a:ext>
            </a:extLst>
          </p:cNvPr>
          <p:cNvSpPr txBox="1"/>
          <p:nvPr/>
        </p:nvSpPr>
        <p:spPr>
          <a:xfrm>
            <a:off x="5996007" y="2880258"/>
            <a:ext cx="24786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 recruitment &amp; training costs by predicting and preventing attrition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37453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A7FA-C067-5415-0ADB-A1CFFB2FC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Conclusion and Future Scope</a:t>
            </a:r>
            <a:endParaRPr lang="en-IN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02EF1B-0AE8-FBEF-888A-60939A48E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97" y="1769426"/>
            <a:ext cx="4133446" cy="377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F3872F-C33C-613B-5B97-F2874A526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47" y="2401548"/>
            <a:ext cx="4121253" cy="27434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1425AA-FDD4-DE0D-568D-EFD366D43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040" y="1776495"/>
            <a:ext cx="4041998" cy="377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4364CB-4BA9-7368-E1E1-3AED18CA0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9544" y="2311874"/>
            <a:ext cx="4023709" cy="274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793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CE442-CDE7-64A8-C98C-B7EDCB0C4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961AC-BA12-EC4E-DF5F-4DDB3EE934F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39365" y="1498862"/>
            <a:ext cx="8347075" cy="4082938"/>
          </a:xfrm>
        </p:spPr>
        <p:txBody>
          <a:bodyPr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</a:t>
            </a: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1] Hausknecht &amp; Trevor, "Collective turnover at the group, unit, and organizational levels," J. Management, 2011.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 Breeman, "Random Forests," Machine Learning, vol. 45, no. 1, pp. 5-32, 2001.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[12] Choudhury &amp; Ghosh, "Employee attrition prediction using ML," IJACSA, 2020.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[15] Guerrant &amp; Dimitri, "Employee attrition prediction with ML," Applied Sciences, 2023.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[16] Raza et al., "Employee attrition prediction using ML approaches," Applied Sciences, 2022.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[17] Aggarwal et al., "Predicting employee attrition using ML," ICCIDS, Springer, 2022.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[18] Pulari et al., "Prediction of employee attrition," ICAIS, IEEE/Springer, 2023.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[19] Diaz et al., "An explainable ML approach for employee attrition prediction," Mathematics, 2023.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[20] Zhang et al., "Integrated SHAP and RF framework for attrition prediction," Scientific Reports, 2024.</a:t>
            </a:r>
            <a:endParaRPr lang="en-US" sz="14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93525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34796</TotalTime>
  <Words>944</Words>
  <Application>Microsoft Office PowerPoint</Application>
  <PresentationFormat>On-screen Show (4:3)</PresentationFormat>
  <Paragraphs>129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Contents</vt:lpstr>
      <vt:lpstr>PowerPoint Presentation</vt:lpstr>
      <vt:lpstr>Literature Review</vt:lpstr>
      <vt:lpstr>Tools And Technologies</vt:lpstr>
      <vt:lpstr>Machine learning Models</vt:lpstr>
      <vt:lpstr>Experimental Methodology </vt:lpstr>
      <vt:lpstr> Results: Model Performance Comparison </vt:lpstr>
      <vt:lpstr> Why Random Forest Achieved Higher Accuracy </vt:lpstr>
      <vt:lpstr> Results: Feature Importance Analysis </vt:lpstr>
      <vt:lpstr>Applications</vt:lpstr>
      <vt:lpstr>Conclusion and Future Scope</vt:lpstr>
      <vt:lpstr>References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raghav Sar</cp:lastModifiedBy>
  <cp:revision>2301</cp:revision>
  <dcterms:created xsi:type="dcterms:W3CDTF">2010-04-09T07:36:15Z</dcterms:created>
  <dcterms:modified xsi:type="dcterms:W3CDTF">2026-05-14T07:09:58Z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