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8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2880" userDrawn="1">
          <p15:clr>
            <a:srgbClr val="A4A3A4"/>
          </p15:clr>
        </p15:guide>
        <p15:guide id="2" orient="horz" pos="16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140754-268D-41CB-B9F1-A20931C5D6FD}" v="19" dt="2026-05-13T18:01:58.4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7" y="821"/>
      </p:cViewPr>
      <p:guideLst>
        <p:guide pos="288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33333"/>
                </a:solidFill>
                <a:latin typeface="Arial"/>
              </a:defRPr>
            </a:pPr>
            <a:r>
              <a:rPr lang="en-IN" sz="1300" b="0" i="0" u="none" strike="noStrike">
                <a:solidFill>
                  <a:srgbClr val="333333"/>
                </a:solidFill>
                <a:latin typeface="Arial"/>
              </a:rPr>
              <a:t>Model Accuracy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CC000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0B4-497D-824B-74A38059EC5B}"/>
              </c:ext>
            </c:extLst>
          </c:dPt>
          <c:dPt>
            <c:idx val="1"/>
            <c:invertIfNegative val="0"/>
            <c:bubble3D val="0"/>
            <c:spPr>
              <a:solidFill>
                <a:srgbClr val="AA0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0B4-497D-824B-74A38059EC5B}"/>
              </c:ext>
            </c:extLst>
          </c:dPt>
          <c:dPt>
            <c:idx val="2"/>
            <c:invertIfNegative val="0"/>
            <c:bubble3D val="0"/>
            <c:spPr>
              <a:solidFill>
                <a:srgbClr val="880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0B4-497D-824B-74A38059EC5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Logistic Regression</c:v>
                </c:pt>
                <c:pt idx="1">
                  <c:v>Decision Tree</c:v>
                </c:pt>
                <c:pt idx="2">
                  <c:v>Random Forest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80</c:v>
                </c:pt>
                <c:pt idx="1">
                  <c:v>82</c:v>
                </c:pt>
                <c:pt idx="2">
                  <c:v>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0B4-497D-824B-74A38059EC5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0"/>
          <c:min val="70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333333"/>
                </a:solidFill>
                <a:latin typeface="Arial"/>
              </a:rPr>
              <a:t>Top Features Driving Attrition (Random Forest)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 Score</c:v>
                </c:pt>
              </c:strCache>
            </c:strRef>
          </c:tx>
          <c:spPr>
            <a:solidFill>
              <a:srgbClr val="CC000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Monthly Income</c:v>
                </c:pt>
                <c:pt idx="1">
                  <c:v>Overtime</c:v>
                </c:pt>
                <c:pt idx="2">
                  <c:v>Age</c:v>
                </c:pt>
                <c:pt idx="3">
                  <c:v>Total Working Years</c:v>
                </c:pt>
                <c:pt idx="4">
                  <c:v>Years at Company</c:v>
                </c:pt>
                <c:pt idx="5">
                  <c:v>Job Satisfaction</c:v>
                </c:pt>
                <c:pt idx="6">
                  <c:v>Work-Life Balance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0.18</c:v>
                </c:pt>
                <c:pt idx="1">
                  <c:v>0.16</c:v>
                </c:pt>
                <c:pt idx="2">
                  <c:v>0.12</c:v>
                </c:pt>
                <c:pt idx="3">
                  <c:v>0.11</c:v>
                </c:pt>
                <c:pt idx="4">
                  <c:v>0.1</c:v>
                </c:pt>
                <c:pt idx="5">
                  <c:v>0.08</c:v>
                </c:pt>
                <c:pt idx="6">
                  <c:v>7.0000000000000007E-2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01F-4E89-A872-0615E254D99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93006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5438C-6D30-33E5-3047-8F8EC44BB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21B895-912A-A1D2-3252-7A33B4A852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2E5785-682B-C8F6-1E81-10ED4B7D6B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659572-39C8-23D0-6AE4-89D89C2035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4359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27432"/>
            <a:ext cx="9144000" cy="5486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07680" y="18288"/>
            <a:ext cx="10363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0" y="18288"/>
            <a:ext cx="2377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CHITKARA</a:t>
            </a:r>
            <a:endParaRPr lang="en-US" sz="1100" dirty="0"/>
          </a:p>
          <a:p>
            <a:pPr marL="0" indent="0" algn="r">
              <a:buNone/>
            </a:pPr>
            <a:r>
              <a:rPr lang="en-US" sz="11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Presentation of Industry Oriented Hands on Experience (22CS422)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Comparative Analysis of Machine Learning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Models for Employee Attrition Prediction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914400" y="2834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Raghav Sarochaya, Chetan Kumar, Aryan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BE22 | Computer Science &amp; Engineering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34747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Supervised By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 . Gurpreet Singh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416052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Computer Science and Engineering,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Chitkara University, Punjab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6576" y="0"/>
            <a:ext cx="9144000" cy="6858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Contents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7949184" y="0"/>
            <a:ext cx="1194816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0" y="4572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CHITKARA</a:t>
            </a:r>
            <a:endParaRPr lang="en-US" sz="1100" dirty="0"/>
          </a:p>
          <a:p>
            <a:pPr marL="0" indent="0" algn="r">
              <a:buNone/>
            </a:pPr>
            <a:r>
              <a:rPr lang="en-US" sz="11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77724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 Introduction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 Literature Review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 Fundamental Concepts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 Experimental Methodology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  Results &amp; Discussion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6.  Applications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7.  Limitations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8.  Conclusion &amp; Future Scope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9.  References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8022336" y="0"/>
            <a:ext cx="1121664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0" y="4572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CHITKARA</a:t>
            </a:r>
            <a:endParaRPr lang="en-US" sz="1100" dirty="0"/>
          </a:p>
          <a:p>
            <a:pPr marL="0" indent="0" algn="r">
              <a:buNone/>
            </a:pPr>
            <a:r>
              <a:rPr lang="en-US" sz="11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777240"/>
            <a:ext cx="84124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 &amp; Problem Statement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Rapid digital transformation has increased the volume of employee-related data available to organizations. 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employee attrition impacts productivity, recruitment cost, team stability, and organizational growth. 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HR departments often rely on reactive approaches such as resignation analysis and feedback surveys. 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methods fail to provide early prediction of employee turnover risks. 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offers data-driven predictive insights that help organizations take preventive actions.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u="sng" dirty="0"/>
              <a:t>Research Objective</a:t>
            </a:r>
          </a:p>
          <a:p>
            <a:r>
              <a:rPr lang="en-US" sz="1200" dirty="0"/>
              <a:t>Build and compare three Machine Learning models for employee attrition prediction: </a:t>
            </a:r>
          </a:p>
          <a:p>
            <a:pPr lvl="1"/>
            <a:r>
              <a:rPr lang="en-US" sz="1200" dirty="0"/>
              <a:t>Logistic Regression </a:t>
            </a:r>
          </a:p>
          <a:p>
            <a:pPr lvl="1"/>
            <a:r>
              <a:rPr lang="en-US" sz="1200" dirty="0"/>
              <a:t>Decision Tree </a:t>
            </a:r>
          </a:p>
          <a:p>
            <a:pPr lvl="1"/>
            <a:r>
              <a:rPr lang="en-US" sz="1200" dirty="0"/>
              <a:t>Random Forest </a:t>
            </a:r>
          </a:p>
          <a:p>
            <a:r>
              <a:rPr lang="en-US" sz="1200" dirty="0"/>
              <a:t>Use the IBM HR Analytics Employee Attrition dataset for experimentation and evaluation. </a:t>
            </a:r>
          </a:p>
          <a:p>
            <a:r>
              <a:rPr lang="en-US" sz="1200" dirty="0"/>
              <a:t>Perform data preprocessing, feature selection, and exploratory data analysis (EDA). </a:t>
            </a:r>
          </a:p>
          <a:p>
            <a:r>
              <a:rPr lang="en-US" sz="1200" dirty="0"/>
              <a:t>Evaluate model performance using standardized metrics such as: </a:t>
            </a:r>
          </a:p>
          <a:p>
            <a:pPr lvl="1"/>
            <a:r>
              <a:rPr lang="en-US" sz="1200" dirty="0"/>
              <a:t>Accuracy </a:t>
            </a:r>
          </a:p>
          <a:p>
            <a:pPr lvl="1"/>
            <a:r>
              <a:rPr lang="en-US" sz="1200" dirty="0"/>
              <a:t>Precision </a:t>
            </a:r>
          </a:p>
          <a:p>
            <a:pPr lvl="1"/>
            <a:r>
              <a:rPr lang="en-US" sz="1200" dirty="0"/>
              <a:t>Recall </a:t>
            </a:r>
          </a:p>
          <a:p>
            <a:pPr marL="0" indent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Literature Review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7936992" y="0"/>
            <a:ext cx="1207008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0" y="4572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CHITKARA</a:t>
            </a:r>
            <a:endParaRPr lang="en-US" sz="1100" dirty="0"/>
          </a:p>
          <a:p>
            <a:pPr marL="0" indent="0" algn="r">
              <a:buNone/>
            </a:pPr>
            <a:r>
              <a:rPr lang="en-US" sz="11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777240"/>
            <a:ext cx="84124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Approaches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 attrition has traditionally been analyzed using exit interviews, employee feedback forms, and satisfaction surveys. 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methods provide qualitative insights into employee behavior and workplace challenges. 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such approaches are retrospective in nature, meaning organizations gain insights only after employees leave the company. </a:t>
            </a:r>
          </a:p>
          <a:p>
            <a:pPr marL="0" indent="0">
              <a:buNone/>
            </a:pPr>
            <a:endParaRPr lang="en-US" sz="1300" dirty="0"/>
          </a:p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in HR Analytics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has emerged as a powerful tool in Human Resource Analytics for predicting employee attrition. 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models can analyze large volumes of workforce data and discover complex relationships between employee attributes and turnover behavior. 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such as Logistic Regression, Decision Trees, and Random Forest are widely used for classification and prediction tasks. 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helps estimate the probability of employee attrition based on independent variables. 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Trees provide interpretable rule-based predictions and help visualize decision-making paths. 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Forest, an ensemble learning technique introduced by Leo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Breiman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improves prediction accuracy by combining multiple decision trees.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b="1" dirty="0"/>
              <a:t>Research Gap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studies often focus on a single machine learning model rather than providing a comprehensive comparison among multiple algorithms. 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research works use different datasets, preprocessing methods, and evaluation metrics, making fair comparison difficult. 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limited research on evaluating Logistic Regression, Decision Tree, and Random Forest under identical experimental conditions. 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59B963-349F-947B-0E8D-D79BADBC8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816E1EB-322F-C166-1189-C7878E4CE2DA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29AB097-3B21-BEA7-3FC5-BA7916039554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DCC0BBE-FE7D-B8F8-E2B1-6BB93F4411A9}"/>
              </a:ext>
            </a:extLst>
          </p:cNvPr>
          <p:cNvSpPr/>
          <p:nvPr/>
        </p:nvSpPr>
        <p:spPr>
          <a:xfrm>
            <a:off x="18288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Random Forest Achieved Higher Accuracy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593589E-26E6-914A-A4C0-3AD6321CA943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65B2D13B-8F9F-0F53-DE84-BE895A03D322}"/>
              </a:ext>
            </a:extLst>
          </p:cNvPr>
          <p:cNvSpPr/>
          <p:nvPr/>
        </p:nvSpPr>
        <p:spPr>
          <a:xfrm>
            <a:off x="8107680" y="0"/>
            <a:ext cx="10363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DD6129B-771E-2EC7-E3A7-D18E2AA7013B}"/>
              </a:ext>
            </a:extLst>
          </p:cNvPr>
          <p:cNvSpPr/>
          <p:nvPr/>
        </p:nvSpPr>
        <p:spPr>
          <a:xfrm>
            <a:off x="6949440" y="4572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CHITKARA</a:t>
            </a:r>
            <a:endParaRPr lang="en-US" sz="1100" dirty="0"/>
          </a:p>
          <a:p>
            <a:pPr marL="0" indent="0" algn="r">
              <a:buNone/>
            </a:pPr>
            <a:r>
              <a:rPr lang="en-US" sz="11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11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67166CC-6008-BA30-ECCF-C4F44E412BAF}"/>
              </a:ext>
            </a:extLst>
          </p:cNvPr>
          <p:cNvSpPr/>
          <p:nvPr/>
        </p:nvSpPr>
        <p:spPr>
          <a:xfrm>
            <a:off x="365760" y="777240"/>
            <a:ext cx="84124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is an ensemble learning algorithm that combines predictions from multiple decision trees to improve overall performance and stability.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 of relying on a single tree, the model aggregates outputs from many trees using majority voting, leading to more reliable predictions.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algorithm reduces overfitting by introducing randomness in both data sampling and feature selection during training.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can effectively capture complex and non-linear relationships between HR variables such as overtime, monthly income, job satisfaction, and work-life balance.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performs well with mixed data types, including both numerical and categorical employee attributes.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is less sensitive to noise and outliers compared to individual decision trees.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bagging enables the algorithm to identify the most important predictors of employee attrition more effectively.</a:t>
            </a:r>
          </a:p>
        </p:txBody>
      </p:sp>
    </p:spTree>
    <p:extLst>
      <p:ext uri="{BB962C8B-B14F-4D97-AF65-F5344CB8AC3E}">
        <p14:creationId xmlns:p14="http://schemas.microsoft.com/office/powerpoint/2010/main" val="41943514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Machine Learning Models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8022336" y="0"/>
            <a:ext cx="1121664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0" y="4572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CHITKARA</a:t>
            </a:r>
            <a:endParaRPr lang="en-US" sz="1100" dirty="0"/>
          </a:p>
          <a:p>
            <a:pPr marL="0" indent="0" algn="r">
              <a:buNone/>
            </a:pPr>
            <a:r>
              <a:rPr lang="en-US" sz="11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868680"/>
            <a:ext cx="2651760" cy="3474720"/>
          </a:xfrm>
          <a:prstGeom prst="rect">
            <a:avLst/>
          </a:prstGeom>
          <a:solidFill>
            <a:srgbClr val="FFF0F0"/>
          </a:solidFill>
          <a:ln w="19050">
            <a:solidFill>
              <a:srgbClr val="CC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9144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Logistic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Regression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0040" y="1600200"/>
            <a:ext cx="25603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Baseline model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Probabilistic output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Easy to interpret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Linear relationships only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Cannot capture complex interactions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46120" y="868680"/>
            <a:ext cx="2651760" cy="3474720"/>
          </a:xfrm>
          <a:prstGeom prst="rect">
            <a:avLst/>
          </a:prstGeom>
          <a:solidFill>
            <a:srgbClr val="FFF0F0"/>
          </a:solidFill>
          <a:ln w="19050">
            <a:solidFill>
              <a:srgbClr val="CC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9144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Decision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Tree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91840" y="1600200"/>
            <a:ext cx="25603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Rule-based model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Highly interpretable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Handles non-linear patterns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Tree-like decision structure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Prone to overfitting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868680"/>
            <a:ext cx="2651760" cy="3474720"/>
          </a:xfrm>
          <a:prstGeom prst="rect">
            <a:avLst/>
          </a:prstGeom>
          <a:solidFill>
            <a:srgbClr val="FFF0F0"/>
          </a:solidFill>
          <a:ln w="19050">
            <a:solidFill>
              <a:srgbClr val="CC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9144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Random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Forest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63640" y="1600200"/>
            <a:ext cx="25603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Ensemble learning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Best predictive accuracy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Reduces overfitting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Handles complex interactions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 interpretable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Experimental Methodology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8010144" y="0"/>
            <a:ext cx="1133856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0" y="4572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CHITKARA</a:t>
            </a:r>
            <a:endParaRPr lang="en-US" sz="1100" dirty="0"/>
          </a:p>
          <a:p>
            <a:pPr marL="0" indent="0" algn="r">
              <a:buNone/>
            </a:pPr>
            <a:r>
              <a:rPr lang="en-US" sz="11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8229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Dataset &amp; Preprocessing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188720"/>
            <a:ext cx="41148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IBM HR Analytics Employee Attrition dataset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Features: age, job role, monthly income, job satisfaction, work-life balance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Handling missing values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Encoding categorical variables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Train-test split for evaluation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0" y="8229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Evaluation Metrics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0" y="1188720"/>
            <a:ext cx="41148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Accuracy — overall correctness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Precision — correct positive predictions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Recall — identifying actual positives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F1-Score — balance of precision &amp; recall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Confusion Matrix — distribution of predictions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80560" y="822960"/>
            <a:ext cx="0" cy="310896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Results: Model Performance Comparison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8046720" y="0"/>
            <a:ext cx="10972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0" y="4572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CHITKARA</a:t>
            </a:r>
            <a:endParaRPr lang="en-US" sz="1100" dirty="0"/>
          </a:p>
          <a:p>
            <a:pPr marL="0" indent="0" algn="r">
              <a:buNone/>
            </a:pPr>
            <a:r>
              <a:rPr lang="en-US" sz="11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11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365760" y="777240"/>
          <a:ext cx="530352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6"/>
          <p:cNvSpPr/>
          <p:nvPr/>
        </p:nvSpPr>
        <p:spPr>
          <a:xfrm>
            <a:off x="5852160" y="8229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Findings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852160" y="1188720"/>
            <a:ext cx="31089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Random Forest: ~86% accuracy (best)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Decision Tree: ~82% — handles non-linear patterns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Logistic Regression: ~80% — strong baseline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Ensemble learning enables RF to aggregate multiple trees, reducing overfitting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Trade-off exists between accuracy and interpretability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Results: Feature Importance Analysis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8010144" y="0"/>
            <a:ext cx="1133856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0" y="4572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CHITKARA</a:t>
            </a:r>
            <a:endParaRPr lang="en-US" sz="1100" dirty="0"/>
          </a:p>
          <a:p>
            <a:pPr marL="0" indent="0" algn="r">
              <a:buNone/>
            </a:pPr>
            <a:r>
              <a:rPr lang="en-US" sz="11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11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365760" y="777240"/>
          <a:ext cx="5303520" cy="3886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6"/>
          <p:cNvSpPr/>
          <p:nvPr/>
        </p:nvSpPr>
        <p:spPr>
          <a:xfrm>
            <a:off x="5852160" y="8229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Insights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852160" y="1188720"/>
            <a:ext cx="31089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Monthly Income is the top predictor — lower pay → higher attrition risk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Overtime has major impact — burnout leads to departure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Age &amp; tenure indicate loyalty — longer-serving employees tend to stay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Aligned with Diaz et al. (2023) SHAP analysis findings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22860"/>
            <a:ext cx="9144000" cy="6858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Applications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8144256" y="0"/>
            <a:ext cx="999744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23760" y="457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CHITKARA</a:t>
            </a:r>
            <a:endParaRPr lang="en-US" sz="1100" dirty="0"/>
          </a:p>
          <a:p>
            <a:pPr marL="0" indent="0" algn="r">
              <a:buNone/>
            </a:pPr>
            <a:r>
              <a:rPr lang="en-US" sz="11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868680"/>
            <a:ext cx="2651760" cy="3566160"/>
          </a:xfrm>
          <a:prstGeom prst="rect">
            <a:avLst/>
          </a:prstGeom>
          <a:solidFill>
            <a:srgbClr val="FFF0F0"/>
          </a:solidFill>
          <a:ln w="19050">
            <a:solidFill>
              <a:srgbClr val="CC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868680"/>
            <a:ext cx="2651760" cy="6858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86868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Workforce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Retention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600200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Identify at-risk employees and implement targeted retention strategies (salary, role changes)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46120" y="868680"/>
            <a:ext cx="2651760" cy="3566160"/>
          </a:xfrm>
          <a:prstGeom prst="rect">
            <a:avLst/>
          </a:prstGeom>
          <a:solidFill>
            <a:srgbClr val="FFF0F0"/>
          </a:solidFill>
          <a:ln w="19050">
            <a:solidFill>
              <a:srgbClr val="CC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868680"/>
            <a:ext cx="2651760" cy="6858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86868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HR Decision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Support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37560" y="1600200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Data-driven insights for HR managers to proactively manage workforce trends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868680"/>
            <a:ext cx="2651760" cy="3566160"/>
          </a:xfrm>
          <a:prstGeom prst="rect">
            <a:avLst/>
          </a:prstGeom>
          <a:solidFill>
            <a:srgbClr val="FFF0F0"/>
          </a:solidFill>
          <a:ln w="19050">
            <a:solidFill>
              <a:srgbClr val="CC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868680"/>
            <a:ext cx="2651760" cy="6858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86868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Cost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Reduction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09360" y="1600200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Reduce recruitment &amp; training costs by predicting and preventing attrition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4320" y="448056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Performance Management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Optimize working conditions and improve employee satisfaction through predictive insights.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Strategic Workforce Planning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Forecast future workforce needs and develop long-term hiring strategies.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 &amp; Future Scope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8046720" y="0"/>
            <a:ext cx="10972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0" y="4572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CHITKARA</a:t>
            </a:r>
            <a:endParaRPr lang="en-US" sz="1100" dirty="0"/>
          </a:p>
          <a:p>
            <a:pPr marL="0" indent="0" algn="r">
              <a:buNone/>
            </a:pPr>
            <a:r>
              <a:rPr lang="en-US" sz="11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8229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188720"/>
            <a:ext cx="41148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Random Forest achieved best performance (~86%) due to ensemble learning</a:t>
            </a:r>
          </a:p>
          <a:p>
            <a:pPr marL="342900" indent="-342900">
              <a:buSzPct val="100000"/>
              <a:buChar char="•"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Decision Tree offers interpretability through rule-based decisions</a:t>
            </a:r>
          </a:p>
          <a:p>
            <a:pPr marL="342900" indent="-342900">
              <a:buSzPct val="100000"/>
              <a:buChar char="•"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Logistic Regression serves as an effective, simple baseline</a:t>
            </a:r>
          </a:p>
          <a:p>
            <a:pPr marL="342900" indent="-342900">
              <a:buSzPct val="100000"/>
              <a:buChar char="•"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attrition drivers: Overtime, Monthly Income, Years at Company</a:t>
            </a:r>
          </a:p>
          <a:p>
            <a:pPr marL="342900" indent="-342900">
              <a:buSzPct val="100000"/>
              <a:buChar char="•"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ML models enable proactive, data-driven HR management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822960"/>
            <a:ext cx="0" cy="301752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8229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Future Scope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1188720"/>
            <a:ext cx="40233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Integrate real-time workforce data for dynamic predictions</a:t>
            </a:r>
          </a:p>
          <a:p>
            <a:pPr marL="342900" indent="-342900">
              <a:buSzPct val="100000"/>
              <a:buChar char="•"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Incorporate advanced techniques: deep learning, SHAP explainability</a:t>
            </a:r>
          </a:p>
          <a:p>
            <a:pPr marL="342900" indent="-342900">
              <a:buSzPct val="100000"/>
              <a:buChar char="•"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Hyperparameter tuning to further improve model performance</a:t>
            </a:r>
          </a:p>
          <a:p>
            <a:pPr marL="342900" indent="-342900">
              <a:buSzPct val="100000"/>
              <a:buChar char="•"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Validate on larger, cross-industry datasets</a:t>
            </a:r>
          </a:p>
          <a:p>
            <a:pPr marL="342900" indent="-342900">
              <a:buSzPct val="100000"/>
              <a:buChar char="•"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Develop personalized attrition risk profiles per employee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7985760" y="0"/>
            <a:ext cx="1158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0" y="4572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CHITKARA</a:t>
            </a:r>
            <a:endParaRPr lang="en-US" sz="1100" dirty="0"/>
          </a:p>
          <a:p>
            <a:pPr marL="0" indent="0" algn="r">
              <a:buNone/>
            </a:pPr>
            <a:r>
              <a:rPr lang="en-US" sz="11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777240"/>
            <a:ext cx="84124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[1] Hausknecht &amp; Trevor, "Collective turnover at the group, unit, and organizational levels," J. Management, 2011.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[5] Breiman, "Random Forests," Machine Learning, vol. 45, no. 1, pp. 5-32, 2001.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[12] Choudhury &amp; Ghosh, "Employee attrition prediction using ML," IJACSA, 2020.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[15] Guerranti &amp; Dimitri, "Employee attrition prediction with ML," Applied Sciences, 2023.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[16] Raza et al., "Employee attrition prediction using ML approaches," Applied Sciences, 2022.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[17] Aggarwal et al., "Predicting employee attrition using ML," ICCIDS, Springer, 2022.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[18] Pulari et al., "Prediction of employee attrition," ICAIS, IEEE/Springer, 2023.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[19] Diaz et al., "An explainable ML approach for employee attrition prediction," Mathematics, 2023.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[20] Zhang et al., "Integrated SHAP and RF framework for attrition prediction," Scientific Reports, 2024.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95488" y="0"/>
            <a:ext cx="104851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0" y="18288"/>
            <a:ext cx="2377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CHITKARA</a:t>
            </a:r>
            <a:endParaRPr lang="en-US" sz="1100" dirty="0"/>
          </a:p>
          <a:p>
            <a:pPr marL="0" indent="0" algn="r">
              <a:buNone/>
            </a:pPr>
            <a:r>
              <a:rPr lang="en-US" sz="11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Questions &amp; Discussion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1216</Words>
  <Application>Microsoft Office PowerPoint</Application>
  <PresentationFormat>On-screen Show (16:9)</PresentationFormat>
  <Paragraphs>209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Comparative Analysis of Machine Learning Models for Employee Attrition Prediction</dc:title>
  <dc:subject>PptxGenJS Presentation</dc:subject>
  <dc:creator>PptxGenJS</dc:creator>
  <cp:lastModifiedBy>raghav Sar</cp:lastModifiedBy>
  <cp:revision>5</cp:revision>
  <dcterms:created xsi:type="dcterms:W3CDTF">2026-05-01T02:43:30Z</dcterms:created>
  <dcterms:modified xsi:type="dcterms:W3CDTF">2026-05-13T20:43:45Z</dcterms:modified>
</cp:coreProperties>
</file>